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Smart EMS : Monitoring Photovoltaïque Intelligent via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Projet de fin d’études</a:t>
            </a:r>
          </a:p>
          <a:p>
            <a:pPr algn="l"/>
            <a:r>
              <a:rPr>
                <a:solidFill>
                  <a:srgbClr val="FFFFFF"/>
                </a:solidFill>
              </a:rPr>
              <a:t>Saad Snani &amp; Walid El Halouat</a:t>
            </a:r>
          </a:p>
          <a:p>
            <a:pPr algn="l"/>
          </a:p>
          <a:p>
            <a:pPr algn="l"/>
            <a:r>
              <a:rPr>
                <a:solidFill>
                  <a:srgbClr val="FFFFFF"/>
                </a:solidFill>
              </a:rPr>
              <a:t>Thème : Monitoring intelligent, énergie propre, IA.</a:t>
            </a:r>
          </a:p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  <a:solidFill>
            <a:srgbClr val="1E2328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IMAGE_PLACEHOLDER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Problématique du Solaire Off-grid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Défis :</a:t>
            </a:r>
          </a:p>
          <a:p>
            <a:pPr algn="l"/>
            <a:r>
              <a:rPr>
                <a:solidFill>
                  <a:srgbClr val="FFFFFF"/>
                </a:solidFill>
              </a:rPr>
              <a:t>- Autonomie énergétique</a:t>
            </a:r>
          </a:p>
          <a:p>
            <a:pPr algn="l"/>
            <a:r>
              <a:rPr>
                <a:solidFill>
                  <a:srgbClr val="FFFFFF"/>
                </a:solidFill>
              </a:rPr>
              <a:t>- Fiabilité du monitoring</a:t>
            </a:r>
          </a:p>
          <a:p>
            <a:pPr algn="l"/>
            <a:r>
              <a:rPr>
                <a:solidFill>
                  <a:srgbClr val="FFFFFF"/>
                </a:solidFill>
              </a:rPr>
              <a:t>- Maintenance préventive</a:t>
            </a:r>
          </a:p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  <a:solidFill>
            <a:srgbClr val="1E2328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IMAGE_PLACEHOLDER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Objectifs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Monitoring temps réel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Optimisation énergétique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Sécurité et maintenance intelligente</a:t>
            </a:r>
          </a:p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  <a:solidFill>
            <a:srgbClr val="1E2328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IMAGE_PLACEHOLDER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Dimensionnement du Système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Panneau solaire : 130W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Batterie : 12V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Régulateur MPPT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Calculs adaptés à l’autonomie Off-grid</a:t>
            </a:r>
          </a:p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  <a:solidFill>
            <a:srgbClr val="1E2328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IMAGE_PLACEHOLDER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Calculs de Puissance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Formules utilisées :</a:t>
            </a:r>
          </a:p>
          <a:p>
            <a:pPr algn="l"/>
            <a:r>
              <a:rPr>
                <a:solidFill>
                  <a:srgbClr val="FFFFFF"/>
                </a:solidFill>
              </a:rPr>
              <a:t>- Puissance = Tension x Courant</a:t>
            </a:r>
          </a:p>
          <a:p>
            <a:pPr algn="l"/>
            <a:r>
              <a:rPr>
                <a:solidFill>
                  <a:srgbClr val="FFFFFF"/>
                </a:solidFill>
              </a:rPr>
              <a:t>- Capacité batterie = (Conso x Autonomie) / Rendement</a:t>
            </a:r>
          </a:p>
          <a:p>
            <a:pPr algn="l"/>
            <a:r>
              <a:rPr>
                <a:solidFill>
                  <a:srgbClr val="FFFFFF"/>
                </a:solidFill>
              </a:rPr>
              <a:t>- Prise en compte des pertes</a:t>
            </a:r>
          </a:p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  <a:solidFill>
            <a:srgbClr val="1E2328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IMAGE_PLACEHOLDER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Régulateur MPPT (98%)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Algorithme Perturb &amp; Observe (P&amp;O)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Suivi du point de puissance maximale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Efficacité mesurée : 98%</a:t>
            </a:r>
          </a:p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  <a:solidFill>
            <a:srgbClr val="1E2328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IMAGE_PLACEHOLDER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Normes de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Fusibles DC adaptés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Disjoncteurs pour sécurité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Respect des normes électriques solaires</a:t>
            </a:r>
          </a:p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  <a:solidFill>
            <a:srgbClr val="1E2328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IMAGE_PLACEHOLDER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Schéma de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Schéma Proteus des protections électriques.</a:t>
            </a:r>
          </a:p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  <a:solidFill>
            <a:srgbClr val="1E2328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IMAGE_PLACEHOLDER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Architecture Dual-Core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Arduino Mega : Acquisition capteurs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ESP32 : Communication WiFi &amp; traitement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Communication série UART entre les deux</a:t>
            </a:r>
          </a:p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  <a:solidFill>
            <a:srgbClr val="1E2328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IMAGE_PLACEHOLDER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Communication Série Mega/ESP32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Protocole UART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Fiabilité des échanges de données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Synchronisation acquisition/émission</a:t>
            </a:r>
          </a:p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  <a:solidFill>
            <a:srgbClr val="1E2328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IMAGE_PLACEHOLDER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Capteur de Courant ACS712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Mesure précise du courant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Intégration sur bus DC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Calibration et filtrage logiciel</a:t>
            </a:r>
          </a:p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  <a:solidFill>
            <a:srgbClr val="1E2328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IMAGE_PLACEHOLDER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Capteur Température DS18B20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Bus OneWire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Robustesse et précision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Surveillance thermique batterie/panneau</a:t>
            </a:r>
          </a:p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  <a:solidFill>
            <a:srgbClr val="1E2328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IMAGE_PLACEHOLDER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Schéma d’Acquisition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Schéma Proteus de l’acquisition capteurs.</a:t>
            </a:r>
          </a:p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  <a:solidFill>
            <a:srgbClr val="1E2328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IMAGE_PLACEHOLDER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Dashboard Web (Next.js 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Frontend : Next.js 14, Tailwind CSS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Visualisation temps réel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Mode sombre, responsive</a:t>
            </a:r>
          </a:p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  <a:solidFill>
            <a:srgbClr val="1E2328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IMAGE_PLACEHOLDER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Base de Données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Stockage sécurisé des mesures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Requêtes optimisées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Historique et analyse des données</a:t>
            </a:r>
          </a:p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  <a:solidFill>
            <a:srgbClr val="1E2328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IMAGE_PLACEHOLDER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Architecture Logicielle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Flux : Capteurs → ESP32 → API → Dashboard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API REST sécurisée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Gestion des utilisateurs</a:t>
            </a:r>
          </a:p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  <a:solidFill>
            <a:srgbClr val="1E2328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IMAGE_PLACEHOLDER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Nom de Domaine .me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Hébergement sur domaine personnalisé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Accès sécurisé et professionnel</a:t>
            </a:r>
          </a:p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  <a:solidFill>
            <a:srgbClr val="1E2328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IMAGE_PLACEHOLDER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Diagnostic en Langage Naturel (Gemini Pro)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IA générative intégrée au dashboard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Explications claires des anomalies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Interaction utilisateur simplifiée</a:t>
            </a:r>
          </a:p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  <a:solidFill>
            <a:srgbClr val="1E2328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IMAGE_PLACEHOLDER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Maintenance Prédictive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Détection automatique des dérives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Alertes intelligentes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Réduction des pannes</a:t>
            </a:r>
          </a:p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  <a:solidFill>
            <a:srgbClr val="1E2328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IMAGE_PLACEHOLDER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Modes Intelligents (Eco/Boost)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Mode Eco : optimisation consommation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Mode Boost : performance maximale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Sélection automatique selon contexte</a:t>
            </a:r>
          </a:p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  <a:solidFill>
            <a:srgbClr val="1E2328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IMAGE_PLACEHOLDER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Intégration IA dans le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Interface dédiée aux diagnostics IA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Visualisation des recommandations</a:t>
            </a:r>
          </a:p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  <a:solidFill>
            <a:srgbClr val="1E2328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IMAGE_PLACEHOLDER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Validation Expérimentale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Tests sur banc réel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Mesures de performance et fiabilité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Comparaison avec solutions classiques</a:t>
            </a:r>
          </a:p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  <a:solidFill>
            <a:srgbClr val="1E2328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IMAGE_PLACEHOLDER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Impact Environnemental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Réduction des émissions CO2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Promotion de l’énergie propre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Contribution à la transition énergétique</a:t>
            </a:r>
          </a:p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  <a:solidFill>
            <a:srgbClr val="1E2328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IMAGE_PLACEHOLDER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• Conception d’un PCB dédié</a:t>
            </a:r>
          </a:p>
          <a:p>
            <a:pPr algn="l"/>
            <a:r>
              <a:rPr>
                <a:solidFill>
                  <a:srgbClr val="FFFFFF"/>
                </a:solidFill>
              </a:rPr>
              <a:t>• Améliorations futures (Edge AI, Cloud)</a:t>
            </a:r>
          </a:p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743200" cy="2743200"/>
          </a:xfrm>
          <a:prstGeom prst="rect">
            <a:avLst/>
          </a:prstGeom>
          <a:solidFill>
            <a:srgbClr val="1E2328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IMAGE_PLACEHOLDER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C9A7"/>
                </a:solidFill>
              </a:defRPr>
            </a:pPr>
            <a:r>
              <a:rPr>
                <a:solidFill>
                  <a:srgbClr val="FFFFFF"/>
                </a:solidFill>
              </a:rPr>
              <a:t>Remerciements &amp;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Merci pour votre attention !</a:t>
            </a:r>
          </a:p>
          <a:p>
            <a:pPr algn="l"/>
            <a:r>
              <a:rPr>
                <a:solidFill>
                  <a:srgbClr val="FFFFFF"/>
                </a:solidFill>
              </a:rPr>
              <a:t>Contact : saad.snani@exemple.com</a:t>
            </a:r>
          </a:p>
          <a:p>
            <a:pPr algn="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